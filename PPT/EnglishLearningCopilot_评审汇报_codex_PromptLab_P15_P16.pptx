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1" r:id="rId17"/>
    <p:sldId id="280" r:id="rId18"/>
    <p:sldId id="268" r:id="rId19"/>
    <p:sldId id="270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本次汇报展示 English Learning Copilot 如何从英语学习需求出发，形成可持续的学习闭环。我们关注的不只是页面功能，还包括 AI 接口、数据可靠性和工程质量。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汇报将依次说明产品价值、系统架构、关键技术、难点攻克以及质量和协作。评审的主线是从用户体验走向可验证的工程实现。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传统英语学习缺少真实口语场景和及时反馈，复习节奏也往往固定而分散。项目以 AI 对话、语音反馈、FSRS 复习和学习计划将这些问题连接为一个闭环。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把产品功能放回一条可解释的学习链路：先练习，再获得反馈，随后复盘薄弱点，最后由复习队列和学习计划安排下一步。口语、即时反馈、词汇、语法和个人中心并不是独立页面，它们通过同一份学习记录、掌握度和计划数据持续接力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五项创新共同构成项目差异化：动态对话、语音反馈、个性化记忆、可插拔 AI 和可靠的进度写入。重点不在堆叠服务，而在把它们组合成闭环。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口语模块把录音上传、语音转写、LLM 回复和反馈回放串联起来。用户等待的同步路径保持短，而语音合成和发音评分在后台完成。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词汇和语法练习会写入长期学习状态。FSRS 根据每次评分调整稳定度和复习间隔，学习计划再将这些状态转化为日常目标。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系统采用前后端分离与分层架构。React 负责交互和服务切换，Spring Boot 负责业务与安全，数据库和 AI 服务作为可替换基础设施接入。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后端业务层依赖 ASR、ISE、TTS 和 Agent 等接口，而不依赖具体供应商实现。开发环境可使用 Mock，真实服务接入后业务主流程无需改动。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前端通过 ServiceContext 屏蔽 mock、http 和 mixed 三种数据源。模块可以独立切换，这使前后端能够并行开发并逐步联调。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分层、依赖倒置、策略、适配器和 DTO 等模式让模块职责清晰。Outbox 是其中最关键的可靠性模式，它把进度统计从评分热路径中解耦出来。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技术栈覆盖前端体验、后端服务、安全、AI 语音和测试工程。选型的原则是每一层都有明确边界，并能支持后续替换和扩展。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FSRS 将一次练习评分转化为下一次复习时间。Outbox 将学习进度事件可靠地异步入账，避免统计任务阻塞评分响应。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并发评分场景通过唯一键和原子 upsert 消除先查后写的竞态窗口。Outbox 配合租约和练习日志去重，使至少一次投递在业务上达到一次计数的效果。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口语对话链路从音频上传开始，经过转码、转写、LLM 回复、语音合成与发音评测。链路按用户可感知的等待时间拆分，先返回文字结果，再完成后台反馈。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口语性能优化的核心不是让所有操作同时变快，而是让用户只等待不可替代的路径。开场白预配置、TTS 与 ISE 异步化、上下文预算和快速轮询共同减少了感知空档。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JWT 与 Spring Security 统一保护用户和管理接口。USER 与 ADMIN 权限由同一安全链路管理，后续模块接入时不需要重复实现鉴权逻辑。系统测试用例中的九项安全性测试均已通过，覆盖未登录和角色访问控制、跨账号数据隔离、无效 Token、输入校验、SQL 注入、XSS、上传文件类型及敏感信息检查。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这一页展示的是实际 k6 压测，而不仅是测试文件数量。词汇与语法都在一百并发用户、各一百次完整迭代下运行，HTTP 失败率均为零；词汇五百个请求对应一千项业务检查全通过，平均 HTTP 响应为一点八三秒、完整链路平均九点一九秒；语法六百个请求对应一千二百项业务检查全通过，平均 HTTP 响应为一点四零秒、完整链路平均八点八一秒。口语因为依赖多个外部 API，采用一名用户、四次完整迭代做稳定性验证，上传和 HTTP 请求同样没有失败。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按接口列出平均耗时，避免使用不直观的高分位统计。词汇在一百并发下依次测试登录、获取练习单词、提交评分或答题、完成进度、完成学习记忆和完成练习，完整链路平均九点一九秒；语法在同等并发下测试登录、获取题目、提交结果、提交评分、完成进度和获取概览，完整链路平均八点八一秒。口语依赖外部 API，因此只做一名用户、四次迭代的稳定性验证：上传平均二点五三秒，完整链路平均二点七一秒，HTTP 与上传失败率均为零。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团队通过模块拆分、接口契约、Mock 数据和文档推进协作。这样前端、后端和测试可以并行进行，联调依赖被显著降低。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已经完成认证、五大页面、口语会话、词汇语法评分、学习计划和测试闭环。自动化测试后端二十五项、前端二十三项和端到端十一项均通过；系统测试用例中除功能与性能外的四十二项非功能测试也全部通过，其中包括安全、可靠性、兼容性、易用性和部署。实时 ASR、SSE 流式、FSRS 乐观锁和生产压测是明确的后续路线。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项目的主要方法论是接口先行、关键路径优先和原子写入加 Outbox。经验教训同样重要：真实服务应尽早接入，LLM 需要预算，开发与生产的存储方案要区分。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成员贡献按产品、前端、认证、口语、词汇语法和测试部署分工。每一项贡献都对应具体模块或可交付文档，而非笼统角色描述。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English Learning Copilot 已经把学习闭环、接口抽象、AI 能力、可靠性和测试证据连接起来。下一阶段将继续补强实时交互、乐观锁、对象存储和监控压测能力，感谢各位老师和同学的聆听。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glish-learning-copilot-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858000" y="0"/>
              <a:ext cx="5334000" cy="6858000"/>
            </a:xfrm>
            <a:prstGeom prst="rect">
              <a:avLst/>
            </a:prstGeom>
            <a:solidFill>
              <a:srgbClr val="0B1A2E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138" y="1181100"/>
            <a:ext cx="5258162" cy="4821238"/>
            <a:chOff x="571138" y="1181100"/>
            <a:chExt cx="5258162" cy="4821238"/>
          </a:xfrm>
        </p:grpSpPr>
        <p:sp>
          <p:nvSpPr>
            <p:cNvPr id="6" name="Rectangle 6"/>
            <p:cNvSpPr/>
            <p:nvPr/>
          </p:nvSpPr>
          <p:spPr>
            <a:xfrm>
              <a:off x="819150" y="1181100"/>
              <a:ext cx="1181100" cy="2667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71138" y="1235392"/>
              <a:ext cx="1677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TECHNICAL REVIEW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2088832"/>
              <a:ext cx="35312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English Learning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5998" y="2669858"/>
              <a:ext cx="15356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Copilot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1906" y="33585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英语口语学习助手项目评审</a:t>
              </a:r>
              <a:endParaRPr lang="zh-CN" sz="180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3933825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19050">
              <a:solidFill>
                <a:srgbClr val="38516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2856" y="41871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让英语学习形成可追踪的成长闭环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4626292"/>
              <a:ext cx="243649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AI 对话 · 发音反馈 · 个性化复习 ·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6252" y="5171758"/>
              <a:ext cx="2571750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崔鸣扬，孙睿阳，常淼淼，王程</a:t>
              </a:r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灏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第 13 组 / 2026 年 7 月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86600" y="1028700"/>
            <a:ext cx="4114800" cy="4629150"/>
            <a:chOff x="7086600" y="1028700"/>
            <a:chExt cx="4114800" cy="4629150"/>
          </a:xfrm>
        </p:grpSpPr>
        <p:sp>
          <p:nvSpPr>
            <p:cNvPr id="16" name="Rectangle 16"/>
            <p:cNvSpPr/>
            <p:nvPr/>
          </p:nvSpPr>
          <p:spPr>
            <a:xfrm>
              <a:off x="7086600" y="1028700"/>
              <a:ext cx="4114800" cy="4629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38516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19950" y="4257675"/>
              <a:ext cx="3848100" cy="121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39406" y="4453890"/>
              <a:ext cx="9144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产品界面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39787" y="4826953"/>
              <a:ext cx="1270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41692" y="5112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从场景选择到口语反馈的完整路径</a:t>
              </a:r>
              <a:endPara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85723" y="6236018"/>
            <a:ext cx="622535" cy="264033"/>
            <a:chOff x="10585723" y="6236018"/>
            <a:chExt cx="622535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10585723" y="62360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01 / 24</a:t>
              </a:r>
              <a:endParaRPr lang="en-US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5" name="图片 24" descr="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447800"/>
            <a:ext cx="4110990" cy="2331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汇报路线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9" name="Group 39"/>
          <p:cNvGrpSpPr/>
          <p:nvPr>
            <p:custDataLst>
              <p:tags r:id="rId1"/>
            </p:custDataLst>
          </p:nvPr>
        </p:nvGrpSpPr>
        <p:grpSpPr>
          <a:xfrm>
            <a:off x="1143000" y="1457960"/>
            <a:ext cx="10287000" cy="4229100"/>
            <a:chOff x="1143000" y="1200150"/>
            <a:chExt cx="10287000" cy="4229100"/>
          </a:xfrm>
        </p:grpSpPr>
        <p:sp>
          <p:nvSpPr>
            <p:cNvPr id="9" name="Line 9"/>
            <p:cNvSpPr/>
            <p:nvPr>
              <p:custDataLst>
                <p:tags r:id="rId2"/>
              </p:custDataLst>
            </p:nvPr>
          </p:nvSpPr>
          <p:spPr>
            <a:xfrm>
              <a:off x="1352550" y="16192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Rectangle 10"/>
            <p:cNvSpPr/>
            <p:nvPr>
              <p:custDataLst>
                <p:tags r:id="rId3"/>
              </p:custDataLst>
            </p:nvPr>
          </p:nvSpPr>
          <p:spPr>
            <a:xfrm>
              <a:off x="1714500" y="1200150"/>
              <a:ext cx="4476750" cy="781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Ellipse 11"/>
            <p:cNvSpPr/>
            <p:nvPr>
              <p:custDataLst>
                <p:tags r:id="rId4"/>
              </p:custDataLst>
            </p:nvPr>
          </p:nvSpPr>
          <p:spPr>
            <a:xfrm>
              <a:off x="1143000" y="138112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>
              <p:custDataLst>
                <p:tags r:id="rId5"/>
              </p:custDataLst>
            </p:nvPr>
          </p:nvSpPr>
          <p:spPr>
            <a:xfrm>
              <a:off x="1240739" y="1511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6"/>
              </p:custDataLst>
            </p:nvPr>
          </p:nvSpPr>
          <p:spPr>
            <a:xfrm>
              <a:off x="1991106" y="1310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产品特色与创新点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7"/>
              </p:custDataLst>
            </p:nvPr>
          </p:nvSpPr>
          <p:spPr>
            <a:xfrm>
              <a:off x="1993392" y="1644968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P03 - P07 / 问题、定位、闭环、算法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>
              <p:custDataLst>
                <p:tags r:id="rId8"/>
              </p:custDataLst>
            </p:nvPr>
          </p:nvSpPr>
          <p:spPr>
            <a:xfrm>
              <a:off x="1714500" y="2152650"/>
              <a:ext cx="4476750" cy="781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Ellipse 16"/>
            <p:cNvSpPr/>
            <p:nvPr>
              <p:custDataLst>
                <p:tags r:id="rId9"/>
              </p:custDataLst>
            </p:nvPr>
          </p:nvSpPr>
          <p:spPr>
            <a:xfrm>
              <a:off x="1143000" y="2333625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1240739" y="24641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1"/>
              </p:custDataLst>
            </p:nvPr>
          </p:nvSpPr>
          <p:spPr>
            <a:xfrm>
              <a:off x="1991106" y="22631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系统架构与设计模式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1993392" y="2597468"/>
              <a:ext cx="3009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P08 - P12 / 接口、分层、服务抽象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>
              <p:custDataLst>
                <p:tags r:id="rId13"/>
              </p:custDataLst>
            </p:nvPr>
          </p:nvSpPr>
          <p:spPr>
            <a:xfrm>
              <a:off x="1714500" y="3105150"/>
              <a:ext cx="4476750" cy="781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Ellipse 21"/>
            <p:cNvSpPr/>
            <p:nvPr>
              <p:custDataLst>
                <p:tags r:id="rId14"/>
              </p:custDataLst>
            </p:nvPr>
          </p:nvSpPr>
          <p:spPr>
            <a:xfrm>
              <a:off x="1143000" y="3286125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>
              <p:custDataLst>
                <p:tags r:id="rId15"/>
              </p:custDataLst>
            </p:nvPr>
          </p:nvSpPr>
          <p:spPr>
            <a:xfrm>
              <a:off x="1240739" y="3416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6"/>
              </p:custDataLst>
            </p:nvPr>
          </p:nvSpPr>
          <p:spPr>
            <a:xfrm>
              <a:off x="1991106" y="32156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关键技术与难点攻克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17"/>
              </p:custDataLst>
            </p:nvPr>
          </p:nvSpPr>
          <p:spPr>
            <a:xfrm>
              <a:off x="1993392" y="3549968"/>
              <a:ext cx="2817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P13 - P16 / 性能、并发、可靠性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>
              <p:custDataLst>
                <p:tags r:id="rId18"/>
              </p:custDataLst>
            </p:nvPr>
          </p:nvSpPr>
          <p:spPr>
            <a:xfrm>
              <a:off x="1714500" y="4057650"/>
              <a:ext cx="4476750" cy="781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6" name="Ellipse 26"/>
            <p:cNvSpPr/>
            <p:nvPr>
              <p:custDataLst>
                <p:tags r:id="rId19"/>
              </p:custDataLst>
            </p:nvPr>
          </p:nvSpPr>
          <p:spPr>
            <a:xfrm>
              <a:off x="1143000" y="42386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>
              <p:custDataLst>
                <p:tags r:id="rId20"/>
              </p:custDataLst>
            </p:nvPr>
          </p:nvSpPr>
          <p:spPr>
            <a:xfrm>
              <a:off x="1240739" y="43691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1"/>
              </p:custDataLst>
            </p:nvPr>
          </p:nvSpPr>
          <p:spPr>
            <a:xfrm>
              <a:off x="1991106" y="41681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质量、协作与复盘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22"/>
              </p:custDataLst>
            </p:nvPr>
          </p:nvSpPr>
          <p:spPr>
            <a:xfrm>
              <a:off x="1993392" y="4502468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P17 - P24 / 安全、测试、团队、展望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43750" y="1200150"/>
              <a:ext cx="4286250" cy="3638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12558" y="1493520"/>
              <a:ext cx="9144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关注点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7524750" y="20002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6B87A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15606" y="2329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产品价值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5606" y="2710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技术架构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5606" y="30918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工程可靠性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5606" y="34728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质量与协作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524750" y="4057650"/>
              <a:ext cx="314325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30810" y="41786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从功能到可持续演进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4918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英语学习需要更真实的练习与更及时的反馈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12571" y="1558290"/>
            <a:ext cx="9345416" cy="3741611"/>
            <a:chOff x="943356" y="1139190"/>
            <a:chExt cx="9345416" cy="3741611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39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传统痛点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1584008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口语练习场景少，缺少真实对话压力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0126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发音、流利度和表达问题难以及时发现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2441258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词汇和语法复习多依赖固定题量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28698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学习进度分散，难以形成持续反馈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9356" y="1139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项目方案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118" y="1584008"/>
              <a:ext cx="2746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Agent构建19个对话场景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0118" y="2012632"/>
              <a:ext cx="3208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ASR转写+ISE发音评测即时反馈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0118" y="2441258"/>
              <a:ext cx="31147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FSRS记忆算法辅助个性化复习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0118" y="2869882"/>
              <a:ext cx="3248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学习计划+个人中心沉淀长期进度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25024" y="151034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5024" y="190658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25024" y="2347277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25024" y="278669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64132" y="4616768"/>
              <a:ext cx="393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学习闭环：输入 → 练习 → 反馈 → 复习 → 进度追踪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55142" y="326708"/>
            <a:ext cx="10674858" cy="991743"/>
            <a:chOff x="755142" y="326708"/>
            <a:chExt cx="10674858" cy="991743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4918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产品围绕练、评、复盘、规划构建学习闭环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142" y="1054418"/>
              <a:ext cx="4288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ONE LEARNING LOOP / FIVE PRODUCT MODULES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1504950"/>
            <a:ext cx="10668000" cy="1790700"/>
            <a:chOff x="762000" y="1504950"/>
            <a:chExt cx="10668000" cy="17907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04950"/>
              <a:ext cx="2381250" cy="17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2792" y="1759268"/>
              <a:ext cx="633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练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7458" y="20459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进入练习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2792" y="2502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口语场景、多轮对话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2792" y="2807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词汇与语法题目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3143250" y="2400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429000" y="2343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43300" y="1504950"/>
              <a:ext cx="2381250" cy="1790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84092" y="1759268"/>
              <a:ext cx="633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评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78758" y="20459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获得反馈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84092" y="2502218"/>
              <a:ext cx="170307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sym typeface="+mn-ea"/>
                </a:rPr>
                <a:t>Agent 回复与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发音评分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84092" y="2807018"/>
              <a:ext cx="15430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答题结果与难度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自评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5924550" y="2400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210300" y="2343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324600" y="1504950"/>
              <a:ext cx="2381250" cy="1790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5392" y="1759268"/>
              <a:ext cx="824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复盘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0058" y="20459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回看薄弱点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5392" y="2502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历史录音、反馈详情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5392" y="2807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错题本与词汇本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8705850" y="2400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8991600" y="2343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105900" y="1504950"/>
              <a:ext cx="2324100" cy="1790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46692" y="1759268"/>
              <a:ext cx="824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规划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41358" y="20459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安排下一步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41612" y="280701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 复习队列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41612" y="25149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每日目标与能力进度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55015" y="3733800"/>
            <a:ext cx="10668000" cy="1866900"/>
            <a:chOff x="762000" y="3733800"/>
            <a:chExt cx="10668000" cy="1866900"/>
          </a:xfrm>
        </p:grpSpPr>
        <p:sp>
          <p:nvSpPr>
            <p:cNvPr id="37" name="Rectangle 37"/>
            <p:cNvSpPr/>
            <p:nvPr/>
          </p:nvSpPr>
          <p:spPr>
            <a:xfrm>
              <a:off x="762000" y="3733800"/>
              <a:ext cx="1066800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1842" y="3950018"/>
              <a:ext cx="8572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学习数据层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9556" y="428244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同一用户状态，让各模块持续接力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1028700" y="470535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1842" y="49787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口语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7914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即时反馈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74592" y="49787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31892" y="49787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91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个人中心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1028700" y="531495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066800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619375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286250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543550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077075" y="52673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13142" y="49787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沉淀练习记录、掌握度、复习队列与学习计划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5142" y="5969318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每一次练习产生的结果，都会成为下一次学习决策的输入。</a:t>
            </a:r>
            <a:endParaRPr lang="zh-CN" sz="135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1032686" cy="616077"/>
            <a:chOff x="762000" y="326708"/>
            <a:chExt cx="11032686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107819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项目创新点体现在AI能力、学习算法和工程可扩展性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3" name="Group 33"/>
          <p:cNvGrpSpPr/>
          <p:nvPr>
            <p:custDataLst>
              <p:tags r:id="rId1"/>
            </p:custDataLst>
          </p:nvPr>
        </p:nvGrpSpPr>
        <p:grpSpPr>
          <a:xfrm>
            <a:off x="762000" y="1112520"/>
            <a:ext cx="10668000" cy="5105400"/>
            <a:chOff x="762000" y="1095375"/>
            <a:chExt cx="10668000" cy="5105400"/>
          </a:xfrm>
        </p:grpSpPr>
        <p:sp>
          <p:nvSpPr>
            <p:cNvPr id="9" name="Rectangle 9"/>
            <p:cNvSpPr/>
            <p:nvPr/>
          </p:nvSpPr>
          <p:spPr>
            <a:xfrm>
              <a:off x="762000" y="1095375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11906" y="117824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创新点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4494" y="11782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传统方案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17512" y="116427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本项目方案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>
              <p:custDataLst>
                <p:tags r:id="rId2"/>
              </p:custDataLst>
            </p:nvPr>
          </p:nvSpPr>
          <p:spPr>
            <a:xfrm>
              <a:off x="762000" y="1438275"/>
              <a:ext cx="10668000" cy="952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>
              <p:custDataLst>
                <p:tags r:id="rId3"/>
              </p:custDataLst>
            </p:nvPr>
          </p:nvSpPr>
          <p:spPr>
            <a:xfrm>
              <a:off x="1018705" y="176403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场景化AI口语对话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4"/>
              </p:custDataLst>
            </p:nvPr>
          </p:nvSpPr>
          <p:spPr>
            <a:xfrm>
              <a:off x="3667135" y="1768792"/>
              <a:ext cx="25717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固定对话跟读，无法练习真实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口语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5"/>
              </p:custDataLst>
            </p:nvPr>
          </p:nvSpPr>
          <p:spPr>
            <a:xfrm>
              <a:off x="7472365" y="1760696"/>
              <a:ext cx="3343275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LLM Agent 19个场景动态回复，自由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对话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>
              <p:custDataLst>
                <p:tags r:id="rId6"/>
              </p:custDataLst>
            </p:nvPr>
          </p:nvSpPr>
          <p:spPr>
            <a:xfrm>
              <a:off x="762000" y="2390775"/>
              <a:ext cx="10668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>
              <p:custDataLst>
                <p:tags r:id="rId7"/>
              </p:custDataLst>
            </p:nvPr>
          </p:nvSpPr>
          <p:spPr>
            <a:xfrm>
              <a:off x="1012557" y="2691765"/>
              <a:ext cx="1828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语音→反馈完整链路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8"/>
              </p:custDataLst>
            </p:nvPr>
          </p:nvSpPr>
          <p:spPr>
            <a:xfrm>
              <a:off x="3336331" y="2721292"/>
              <a:ext cx="34290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只能评测固定语句，无法反馈真实环境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下水平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9"/>
              </p:custDataLst>
            </p:nvPr>
          </p:nvSpPr>
          <p:spPr>
            <a:xfrm>
              <a:off x="7132959" y="2725896"/>
              <a:ext cx="423545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ASR+ISE+TTS全链路闭环，实时对用户口语进行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评测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>
              <p:custDataLst>
                <p:tags r:id="rId10"/>
              </p:custDataLst>
            </p:nvPr>
          </p:nvSpPr>
          <p:spPr>
            <a:xfrm>
              <a:off x="762000" y="3343275"/>
              <a:ext cx="10668000" cy="952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1"/>
              </p:custDataLst>
            </p:nvPr>
          </p:nvSpPr>
          <p:spPr>
            <a:xfrm>
              <a:off x="1155922" y="36798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个性化记忆复习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2"/>
              </p:custDataLst>
            </p:nvPr>
          </p:nvSpPr>
          <p:spPr>
            <a:xfrm>
              <a:off x="3667139" y="3673792"/>
              <a:ext cx="25717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只提供错题本，依赖用户主动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复习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13"/>
              </p:custDataLst>
            </p:nvPr>
          </p:nvSpPr>
          <p:spPr>
            <a:xfrm>
              <a:off x="7250434" y="3665696"/>
              <a:ext cx="365760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FSRS四参数动态调整，科学安排复习间隔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时间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>
              <p:custDataLst>
                <p:tags r:id="rId14"/>
              </p:custDataLst>
            </p:nvPr>
          </p:nvSpPr>
          <p:spPr>
            <a:xfrm>
              <a:off x="762000" y="4267200"/>
              <a:ext cx="10668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" name="TextBox 26"/>
            <p:cNvSpPr txBox="1"/>
            <p:nvPr>
              <p:custDataLst>
                <p:tags r:id="rId15"/>
              </p:custDataLst>
            </p:nvPr>
          </p:nvSpPr>
          <p:spPr>
            <a:xfrm>
              <a:off x="1404620" y="4605655"/>
              <a:ext cx="10439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教学能力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16"/>
              </p:custDataLst>
            </p:nvPr>
          </p:nvSpPr>
          <p:spPr>
            <a:xfrm>
              <a:off x="3752893" y="4626292"/>
              <a:ext cx="24003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学习资料固定化，不会多元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表达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7"/>
              </p:custDataLst>
            </p:nvPr>
          </p:nvSpPr>
          <p:spPr>
            <a:xfrm>
              <a:off x="7239020" y="4618196"/>
              <a:ext cx="360680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大模型实时教学与提示，提供丰富语料与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纠错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>
              <p:custDataLst>
                <p:tags r:id="rId18"/>
              </p:custDataLst>
            </p:nvPr>
          </p:nvSpPr>
          <p:spPr>
            <a:xfrm>
              <a:off x="762000" y="5248275"/>
              <a:ext cx="10668000" cy="952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>
              <p:custDataLst>
                <p:tags r:id="rId19"/>
              </p:custDataLst>
            </p:nvPr>
          </p:nvSpPr>
          <p:spPr>
            <a:xfrm>
              <a:off x="1239527" y="5581650"/>
              <a:ext cx="1333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学习轨迹可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追溯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>
              <p:custDataLst>
                <p:tags r:id="rId20"/>
              </p:custDataLst>
            </p:nvPr>
          </p:nvSpPr>
          <p:spPr>
            <a:xfrm>
              <a:off x="4193561" y="5571172"/>
              <a:ext cx="17145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练完即结束，无法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复盘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>
              <p:custDataLst>
                <p:tags r:id="rId21"/>
              </p:custDataLst>
            </p:nvPr>
          </p:nvSpPr>
          <p:spPr>
            <a:xfrm>
              <a:off x="7515880" y="5570696"/>
              <a:ext cx="306578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练习历史，对话回放，词汇本与错题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44818"/>
            <a:ext cx="10684002" cy="898017"/>
            <a:chOff x="745998" y="444818"/>
            <a:chExt cx="10684002" cy="898017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44818"/>
              <a:ext cx="2796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PRODUCT EVIDENCE / SPEAKING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26758"/>
              <a:ext cx="84918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口语练习不是单点识别，而是完整对话闭环</a:t>
              </a:r>
              <a:endParaRPr lang="zh-CN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2954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1638300"/>
            <a:ext cx="4953000" cy="3810000"/>
            <a:chOff x="762000" y="1638300"/>
            <a:chExt cx="4953000" cy="3810000"/>
          </a:xfrm>
        </p:grpSpPr>
        <p:sp>
          <p:nvSpPr>
            <p:cNvPr id="9" name="Rectangle 9"/>
            <p:cNvSpPr/>
            <p:nvPr/>
          </p:nvSpPr>
          <p:spPr>
            <a:xfrm>
              <a:off x="762000" y="1638300"/>
              <a:ext cx="4953000" cy="3810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rcRect l="1181" r="1181"/>
            <a:stretch>
              <a:fillRect/>
            </a:stretch>
          </p:blipFill>
          <p:spPr>
            <a:xfrm>
              <a:off x="895350" y="1771650"/>
              <a:ext cx="4686300" cy="31623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983742" y="5093018"/>
              <a:ext cx="17145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场景、录音和回放界面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84392" y="1740218"/>
            <a:ext cx="5245608" cy="3650932"/>
            <a:chOff x="6184392" y="1740218"/>
            <a:chExt cx="5245608" cy="3650932"/>
          </a:xfrm>
        </p:grpSpPr>
        <p:sp>
          <p:nvSpPr>
            <p:cNvPr id="13" name="TextBox 13"/>
            <p:cNvSpPr txBox="1"/>
            <p:nvPr/>
          </p:nvSpPr>
          <p:spPr>
            <a:xfrm>
              <a:off x="6184392" y="17402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用户可感知的主链路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2133600"/>
              <a:ext cx="1619250" cy="647700"/>
            </a:xfrm>
            <a:prstGeom prst="rect">
              <a:avLst/>
            </a:prstGeom>
            <a:solidFill>
              <a:srgbClr val="F0FDFA"/>
            </a:solidFill>
            <a:ln w="19050">
              <a:solidFill>
                <a:srgbClr val="16B8B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82867" y="2329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录音上传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7905750" y="245745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8575">
              <a:solidFill>
                <a:srgbClr val="16B8B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239125" y="2133600"/>
              <a:ext cx="1619250" cy="647700"/>
            </a:xfrm>
            <a:prstGeom prst="rect">
              <a:avLst/>
            </a:prstGeom>
            <a:solidFill>
              <a:srgbClr val="F0FDFA"/>
            </a:solidFill>
            <a:ln w="19050">
              <a:solidFill>
                <a:srgbClr val="16B8B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8660" y="2329815"/>
              <a:ext cx="1080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ASR 转写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9953625" y="245745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8575">
              <a:solidFill>
                <a:srgbClr val="16B8B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287000" y="2133600"/>
              <a:ext cx="1143000" cy="6477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0685" y="2329815"/>
              <a:ext cx="515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LLM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000875" y="3048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048750" y="3048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858500" y="3048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3543300"/>
              <a:ext cx="5238750" cy="70485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20231" y="37490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先返回文字回复，用户即可继续下一轮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4392" y="45215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后台并行完成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91250" y="4857750"/>
              <a:ext cx="2476500" cy="533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8661" y="5006340"/>
              <a:ext cx="15416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TTS 语音合成</a:t>
              </a:r>
              <a:endParaRPr lang="zh-CN" sz="180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53500" y="4857750"/>
              <a:ext cx="2476500" cy="533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52915" y="5006340"/>
              <a:ext cx="14776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ISE 发音评分</a:t>
              </a:r>
              <a:endParaRPr lang="zh-CN" sz="180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5142" y="6045518"/>
            <a:ext cx="67257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rPr>
              <a:t>19 个场景 · Session 多轮消息 · multipart 上传 · FFmpeg 转码 · 四大能力接口化</a:t>
            </a:r>
            <a:endParaRPr lang="zh-CN" sz="1350" dirty="0">
              <a:solidFill>
                <a:srgbClr val="16B8B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词汇和语法练习沉淀为可持续的个人学习路径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12571" y="1489075"/>
            <a:ext cx="10296144" cy="3979101"/>
            <a:chOff x="943356" y="1186815"/>
            <a:chExt cx="10296144" cy="3979101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86815"/>
              <a:ext cx="17657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 记忆算法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1631632"/>
              <a:ext cx="39372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根据用户每次评分（1-4）更新记忆状态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012632"/>
              <a:ext cx="48923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四参数：difficulty / stability / interval / due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2393632"/>
              <a:ext cx="3426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评分低 → stability下降、间隔缩短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2774632"/>
              <a:ext cx="3426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评分高 → stability上升、间隔拉长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118" y="3346132"/>
              <a:ext cx="5381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练习结果不只是一次得分，而会影响下一次学习安排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86500" y="1333500"/>
              <a:ext cx="4953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68618" y="1488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词汇模块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0523" y="1786414"/>
              <a:ext cx="3080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FSRS更新状态·词汇本·收藏·复习队列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6500" y="2286000"/>
              <a:ext cx="4953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68618" y="24412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语法模块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0523" y="2738914"/>
              <a:ext cx="2537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作答结果·错题本·收藏·进度追踪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238500"/>
              <a:ext cx="4953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8618" y="3393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学习计划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691414"/>
              <a:ext cx="2270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每日目标·连续学习·完成状态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5342" y="4901883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练习结果写入长期学习状态，每个人的复习节奏不同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63868"/>
            <a:ext cx="7601350" cy="1160716"/>
            <a:chOff x="745998" y="463868"/>
            <a:chExt cx="7601350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63868"/>
              <a:ext cx="2060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SYSTEM ARCHITECTURE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6485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分层架构将体验、业务与基础设施解耦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725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页面不直接依赖具体服务，业务不直接耦合具体供应商。</a:t>
              </a:r>
              <a:endParaRPr lang="zh-CN" sz="180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>
            <p:custDataLst>
              <p:tags r:id="rId1"/>
            </p:custDataLst>
          </p:nvPr>
        </p:nvGrpSpPr>
        <p:grpSpPr>
          <a:xfrm>
            <a:off x="762000" y="1943100"/>
            <a:ext cx="10668000" cy="3409950"/>
            <a:chOff x="762000" y="1943100"/>
            <a:chExt cx="10668000" cy="3409950"/>
          </a:xfrm>
        </p:grpSpPr>
        <p:sp>
          <p:nvSpPr>
            <p:cNvPr id="9" name="Rectangle 9"/>
            <p:cNvSpPr/>
            <p:nvPr>
              <p:custDataLst>
                <p:tags r:id="rId2"/>
              </p:custDataLst>
            </p:nvPr>
          </p:nvSpPr>
          <p:spPr>
            <a:xfrm>
              <a:off x="762000" y="1943100"/>
              <a:ext cx="10668000" cy="895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>
              <p:custDataLst>
                <p:tags r:id="rId3"/>
              </p:custDataLst>
            </p:nvPr>
          </p:nvSpPr>
          <p:spPr>
            <a:xfrm>
              <a:off x="762000" y="1943100"/>
              <a:ext cx="1657350" cy="89535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11" name="TextBox 11"/>
            <p:cNvSpPr txBox="1"/>
            <p:nvPr>
              <p:custDataLst>
                <p:tags r:id="rId4"/>
              </p:custDataLst>
            </p:nvPr>
          </p:nvSpPr>
          <p:spPr>
            <a:xfrm>
              <a:off x="1199883" y="21964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体验层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5"/>
              </p:custDataLst>
            </p:nvPr>
          </p:nvSpPr>
          <p:spPr>
            <a:xfrm>
              <a:off x="2695956" y="212979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React 前端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6"/>
              </p:custDataLst>
            </p:nvPr>
          </p:nvSpPr>
          <p:spPr>
            <a:xfrm>
              <a:off x="2698242" y="2483168"/>
              <a:ext cx="5360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页面与组件 · 路由与状态 · ServiceContext · mock/http/mixed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>
              <p:custDataLst>
                <p:tags r:id="rId7"/>
              </p:custDataLst>
            </p:nvPr>
          </p:nvSpPr>
          <p:spPr>
            <a:xfrm>
              <a:off x="762000" y="3086100"/>
              <a:ext cx="10668000" cy="112395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15" name="Rectangle 15"/>
            <p:cNvSpPr/>
            <p:nvPr>
              <p:custDataLst>
                <p:tags r:id="rId8"/>
              </p:custDataLst>
            </p:nvPr>
          </p:nvSpPr>
          <p:spPr>
            <a:xfrm>
              <a:off x="762000" y="3086100"/>
              <a:ext cx="1657350" cy="112395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1199883" y="34537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业务层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2695956" y="3329940"/>
              <a:ext cx="2038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Spring Boot 后端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1"/>
              </p:custDataLst>
            </p:nvPr>
          </p:nvSpPr>
          <p:spPr>
            <a:xfrm>
              <a:off x="2698242" y="3683318"/>
              <a:ext cx="58951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Controller → Service（接口驱动）→ Repository · JWT · 全局异常处理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>
              <p:custDataLst>
                <p:tags r:id="rId12"/>
              </p:custDataLst>
            </p:nvPr>
          </p:nvSpPr>
          <p:spPr>
            <a:xfrm>
              <a:off x="762000" y="4457700"/>
              <a:ext cx="10668000" cy="895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Rectangle 20"/>
            <p:cNvSpPr/>
            <p:nvPr>
              <p:custDataLst>
                <p:tags r:id="rId13"/>
              </p:custDataLst>
            </p:nvPr>
          </p:nvSpPr>
          <p:spPr>
            <a:xfrm>
              <a:off x="762000" y="4457700"/>
              <a:ext cx="1657350" cy="895350"/>
            </a:xfrm>
            <a:prstGeom prst="rect">
              <a:avLst/>
            </a:prstGeom>
            <a:solidFill>
              <a:srgbClr val="38516C"/>
            </a:solidFill>
            <a:ln>
              <a:noFill/>
            </a:ln>
          </p:spPr>
        </p:sp>
        <p:sp>
          <p:nvSpPr>
            <p:cNvPr id="21" name="TextBox 21"/>
            <p:cNvSpPr txBox="1"/>
            <p:nvPr>
              <p:custDataLst>
                <p:tags r:id="rId14"/>
              </p:custDataLst>
            </p:nvPr>
          </p:nvSpPr>
          <p:spPr>
            <a:xfrm>
              <a:off x="1199883" y="47110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5"/>
              </p:custDataLst>
            </p:nvPr>
          </p:nvSpPr>
          <p:spPr>
            <a:xfrm>
              <a:off x="2695956" y="46443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数据与智能基础设施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6"/>
              </p:custDataLst>
            </p:nvPr>
          </p:nvSpPr>
          <p:spPr>
            <a:xfrm>
              <a:off x="2698242" y="4997768"/>
              <a:ext cx="5023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MySQL · 文件存储 · ASR / ISE / TTS · DeepSeek · FFmpeg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>
            <p:custDataLst>
              <p:tags r:id="rId17"/>
            </p:custDataLst>
          </p:nvPr>
        </p:nvGrpSpPr>
        <p:grpSpPr>
          <a:xfrm>
            <a:off x="755142" y="2838450"/>
            <a:ext cx="4286250" cy="3338513"/>
            <a:chOff x="755142" y="2838450"/>
            <a:chExt cx="4286250" cy="3338513"/>
          </a:xfrm>
        </p:grpSpPr>
        <p:sp>
          <p:nvSpPr>
            <p:cNvPr id="25" name="Line 25"/>
            <p:cNvSpPr/>
            <p:nvPr>
              <p:custDataLst>
                <p:tags r:id="rId18"/>
              </p:custDataLst>
            </p:nvPr>
          </p:nvSpPr>
          <p:spPr>
            <a:xfrm>
              <a:off x="2419350" y="28384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38100">
              <a:solidFill>
                <a:srgbClr val="16B8B2"/>
              </a:solidFill>
            </a:ln>
          </p:spPr>
        </p:sp>
        <p:sp>
          <p:nvSpPr>
            <p:cNvPr id="26" name="Line 26"/>
            <p:cNvSpPr/>
            <p:nvPr>
              <p:custDataLst>
                <p:tags r:id="rId19"/>
              </p:custDataLst>
            </p:nvPr>
          </p:nvSpPr>
          <p:spPr>
            <a:xfrm>
              <a:off x="2419350" y="42100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38100">
              <a:solidFill>
                <a:srgbClr val="16B8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5142" y="5969318"/>
              <a:ext cx="42862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服务替换只穿透接口边界，不穿透页面与核心业务代码。</a:t>
              </a:r>
              <a:endPara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业务流程依赖接口，而不是依赖具体实现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1139190"/>
            <a:ext cx="10668000" cy="4718685"/>
            <a:chOff x="762000" y="1139190"/>
            <a:chExt cx="10668000" cy="4718685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39190"/>
              <a:ext cx="2128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AI与语音能力接口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1524000"/>
              <a:ext cx="23812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53807" y="162591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AsrService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24250" y="1524000"/>
              <a:ext cx="23812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48531" y="1625918"/>
              <a:ext cx="9326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IseService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0" y="1524000"/>
              <a:ext cx="23812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97307" y="162591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TtsService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667750" y="1524000"/>
              <a:ext cx="25717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57465" y="1625918"/>
              <a:ext cx="1792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SpeakingAgentClient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3356" y="2282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依赖倒置示意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19500" y="2762250"/>
              <a:ext cx="495300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63946" y="2907982"/>
              <a:ext cx="34641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SpeakingServiceImpl（业务层）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0" y="323850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404" y="34137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依赖接口（不依赖实现）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19500" y="3714750"/>
              <a:ext cx="4953000" cy="428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01552" y="3846671"/>
              <a:ext cx="2788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SpeakingAgentClient（接口）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3619500" y="4143375"/>
              <a:ext cx="1143000" cy="428625"/>
            </a:xfrm>
            <a:custGeom>
              <a:avLst/>
              <a:gdLst/>
              <a:ahLst/>
              <a:cxnLst/>
              <a:rect l="l" t="t" r="r" b="b"/>
              <a:pathLst>
                <a:path w="1143000" h="428625">
                  <a:moveTo>
                    <a:pt x="1143000" y="0"/>
                  </a:moveTo>
                  <a:lnTo>
                    <a:pt x="0" y="428625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429500" y="4143375"/>
              <a:ext cx="1143000" cy="428625"/>
            </a:xfrm>
            <a:custGeom>
              <a:avLst/>
              <a:gdLst/>
              <a:ahLst/>
              <a:cxnLst/>
              <a:rect l="l" t="t" r="r" b="b"/>
              <a:pathLst>
                <a:path w="1143000" h="428625">
                  <a:moveTo>
                    <a:pt x="0" y="0"/>
                  </a:moveTo>
                  <a:lnTo>
                    <a:pt x="1143000" y="428625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86000" y="4619625"/>
              <a:ext cx="2667000" cy="428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92309" y="4767739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MockAgent（开发/测试）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39000" y="4619625"/>
              <a:ext cx="2667000" cy="428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22337" y="4767739"/>
              <a:ext cx="2300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SjtuDeepSeekAgent（生产）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5429250"/>
              <a:ext cx="10668000" cy="428625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40892" y="5550218"/>
              <a:ext cx="6381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替换供应商不改变主业务流程 — 切换只改 @Primary 注解，业务代码零改动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91152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前端通过服务上下文屏蔽mock与真实接口差异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6" name="Group 26"/>
          <p:cNvGrpSpPr/>
          <p:nvPr>
            <p:custDataLst>
              <p:tags r:id="rId1"/>
            </p:custDataLst>
          </p:nvPr>
        </p:nvGrpSpPr>
        <p:grpSpPr>
          <a:xfrm>
            <a:off x="762000" y="1186815"/>
            <a:ext cx="10668000" cy="3861435"/>
            <a:chOff x="762000" y="1186815"/>
            <a:chExt cx="10668000" cy="3861435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86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三种模式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>
              <p:custDataLst>
                <p:tags r:id="rId2"/>
              </p:custDataLst>
            </p:nvPr>
          </p:nvSpPr>
          <p:spPr>
            <a:xfrm>
              <a:off x="762000" y="1619250"/>
              <a:ext cx="3333750" cy="666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>
              <p:custDataLst>
                <p:tags r:id="rId3"/>
              </p:custDataLst>
            </p:nvPr>
          </p:nvSpPr>
          <p:spPr>
            <a:xfrm>
              <a:off x="944118" y="1774508"/>
              <a:ext cx="576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mock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4"/>
              </p:custDataLst>
            </p:nvPr>
          </p:nvSpPr>
          <p:spPr>
            <a:xfrm>
              <a:off x="946023" y="20721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前端独立开发，零后端依赖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>
              <p:custDataLst>
                <p:tags r:id="rId5"/>
              </p:custDataLst>
            </p:nvPr>
          </p:nvSpPr>
          <p:spPr>
            <a:xfrm>
              <a:off x="4429125" y="1619250"/>
              <a:ext cx="3333750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>
              <p:custDataLst>
                <p:tags r:id="rId6"/>
              </p:custDataLst>
            </p:nvPr>
          </p:nvSpPr>
          <p:spPr>
            <a:xfrm>
              <a:off x="4611243" y="1774508"/>
              <a:ext cx="529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http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7"/>
              </p:custDataLst>
            </p:nvPr>
          </p:nvSpPr>
          <p:spPr>
            <a:xfrm>
              <a:off x="4613148" y="2072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全部走真实后端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>
              <p:custDataLst>
                <p:tags r:id="rId8"/>
              </p:custDataLst>
            </p:nvPr>
          </p:nvSpPr>
          <p:spPr>
            <a:xfrm>
              <a:off x="8096250" y="1619250"/>
              <a:ext cx="3333750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9"/>
              </p:custDataLst>
            </p:nvPr>
          </p:nvSpPr>
          <p:spPr>
            <a:xfrm>
              <a:off x="8278368" y="1774508"/>
              <a:ext cx="646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mixed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0"/>
              </p:custDataLst>
            </p:nvPr>
          </p:nvSpPr>
          <p:spPr>
            <a:xfrm>
              <a:off x="8280273" y="2072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按模块独立选择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3356" y="27584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模块级切换示例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190875"/>
              <a:ext cx="10668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0892" y="3378518"/>
              <a:ext cx="195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VITE_API_MODE=mixed</a:t>
              </a:r>
              <a:endParaRPr lang="en-US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3645218"/>
              <a:ext cx="3943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VITE_AUTH_API_MODE=http ← 认证走真实后端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0892" y="3911918"/>
              <a:ext cx="4360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VITE_SPEAKING_API_MODE=mock ← 口语仍在开发中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476750"/>
              <a:ext cx="10668000" cy="571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0511" y="4675346"/>
              <a:ext cx="78961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页面组件只调用 useAppServices，不直接关心数据源 — 多人并行开发，前后端边实现边联调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多个设计模式共同支撑系统扩展与稳定性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62000" y="1143000"/>
            <a:ext cx="10668000" cy="5000625"/>
            <a:chOff x="762000" y="1143000"/>
            <a:chExt cx="10668000" cy="5000625"/>
          </a:xfrm>
        </p:grpSpPr>
        <p:sp>
          <p:nvSpPr>
            <p:cNvPr id="9" name="Rectangle 9"/>
            <p:cNvSpPr/>
            <p:nvPr/>
          </p:nvSpPr>
          <p:spPr>
            <a:xfrm>
              <a:off x="762000" y="1143000"/>
              <a:ext cx="1066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4118" y="12696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分层架构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69642" y="1302068"/>
              <a:ext cx="3113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Controller/Service/Repository分离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23023" y="13101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职责清晰，便于维护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857375"/>
              <a:ext cx="10668000" cy="714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118" y="19840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依赖倒置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69642" y="2016442"/>
              <a:ext cx="2868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业务依赖ASR/ISE/TTS/Agent接口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3023" y="2024539"/>
              <a:ext cx="2625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Mock→真实服务替换不改业务代码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571750"/>
              <a:ext cx="1066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118" y="2698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策略模式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69642" y="2730818"/>
              <a:ext cx="2759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Mock/讯飞/DeepSeek按配置切换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3023" y="27389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支持开发、联调和生产多环境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286125"/>
              <a:ext cx="10668000" cy="714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118" y="341280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适配器模式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69642" y="344519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第三方语音服务封装为统一接口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3023" y="3453289"/>
              <a:ext cx="1360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屏蔽外部API差异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000500"/>
              <a:ext cx="1066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118" y="4127182"/>
              <a:ext cx="12481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Repository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69642" y="4159568"/>
              <a:ext cx="24544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JPA Repository封装数据访问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23023" y="4167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简化数据库操作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4714875"/>
              <a:ext cx="10668000" cy="714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118" y="4841558"/>
              <a:ext cx="9655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DTO模式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69642" y="4873942"/>
              <a:ext cx="3142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Request/Response DTO承载接口数据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3023" y="488203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避免直接暴露实体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5429250"/>
              <a:ext cx="10668000" cy="714375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118" y="5555932"/>
              <a:ext cx="13116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Outbox模式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69642" y="55883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学习进度异步可靠入账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3023" y="55964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解耦评分热路径，并发下不重复计数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6F8F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63868"/>
            <a:ext cx="8046606" cy="1160716"/>
            <a:chOff x="745998" y="463868"/>
            <a:chExt cx="8046606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63868"/>
              <a:ext cx="2251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TECHNOLOGY SELECTION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6485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技术选型服务于真实学习体验与长期演进</a:t>
              </a:r>
              <a:endParaRPr lang="zh-CN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72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每一层都能独立测试、替换或扩展。</a:t>
              </a:r>
              <a:endParaRPr lang="zh-CN" sz="18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2000250"/>
            <a:ext cx="10668000" cy="3162300"/>
            <a:chOff x="762000" y="2000250"/>
            <a:chExt cx="10668000" cy="3162300"/>
          </a:xfrm>
        </p:grpSpPr>
        <p:sp>
          <p:nvSpPr>
            <p:cNvPr id="9" name="Rectangle 9"/>
            <p:cNvSpPr/>
            <p:nvPr/>
          </p:nvSpPr>
          <p:spPr>
            <a:xfrm>
              <a:off x="762000" y="2000250"/>
              <a:ext cx="5143500" cy="142875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7656" y="2225040"/>
              <a:ext cx="1859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/ FRONTEND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4608" y="2541270"/>
              <a:ext cx="25148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React 18 + Vite</a:t>
              </a:r>
              <a:endParaRPr lang="en-US" sz="240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42" y="2997518"/>
              <a:ext cx="3823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React Router · Ant Design · MediaRecorder</a:t>
              </a:r>
              <a:endParaRPr lang="en-US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2000250"/>
              <a:ext cx="51435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82156" y="2225040"/>
              <a:ext cx="1658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BACKEND</a:t>
              </a:r>
              <a:endParaRPr lang="en-US" sz="180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79108" y="2541270"/>
              <a:ext cx="35609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Java 21 + Spring Boot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84442" y="2997518"/>
              <a:ext cx="3261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MVC · JPA · Security · JWT · MySQL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733800"/>
              <a:ext cx="51435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7656" y="3958590"/>
              <a:ext cx="2047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AI &amp; SPEECH</a:t>
              </a:r>
              <a:endParaRPr lang="en-US" sz="180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4608" y="4274820"/>
              <a:ext cx="36088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ASR · ISE · TTS · LLM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9942" y="4731068"/>
              <a:ext cx="3564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讯飞语音能力 · DeepSeek Agent · FFmpeg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733800"/>
              <a:ext cx="5143500" cy="142875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82156" y="3958590"/>
              <a:ext cx="1644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 / QUALITY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79108" y="42748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测试与工程工具链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84442" y="4731068"/>
              <a:ext cx="4074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H2 · JUnit · Vitest · Playwright · JaCoCo · k6</a:t>
              </a:r>
              <a:endPara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5142" y="5893118"/>
            <a:ext cx="6737985" cy="264033"/>
            <a:chOff x="755142" y="5893118"/>
            <a:chExt cx="6737985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755142" y="5893118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选择逻辑：体验层快迭代，业务层重边界，智能能力可替换，质量工具可持续验证。</a:t>
              </a:r>
              <a:endParaRPr lang="zh-CN" sz="135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33400"/>
              <a:ext cx="9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25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998" y="597218"/>
            <a:ext cx="8641400" cy="821817"/>
            <a:chOff x="745998" y="597218"/>
            <a:chExt cx="8641400" cy="821817"/>
          </a:xfrm>
        </p:grpSpPr>
        <p:sp>
          <p:nvSpPr>
            <p:cNvPr id="7" name="TextBox 7"/>
            <p:cNvSpPr txBox="1"/>
            <p:nvPr/>
          </p:nvSpPr>
          <p:spPr>
            <a:xfrm>
              <a:off x="1021842" y="597218"/>
              <a:ext cx="3602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TECHNOLOGY / SPACED REPETITION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802958"/>
              <a:ext cx="86414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FSRS-6：在目标保持率处安排下一次复习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623" y="1581150"/>
            <a:ext cx="5910377" cy="3790950"/>
            <a:chOff x="566623" y="1581150"/>
            <a:chExt cx="5910377" cy="3790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81150"/>
              <a:ext cx="5715000" cy="3790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7656" y="178689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遗忘曲线不是固定的：稳定性决定衰减速度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1295400" y="24193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295400" y="453390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295400" y="293370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400000" sp="4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83792" y="2673668"/>
              <a:ext cx="1798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目标保持率 R = 90%</a:t>
              </a:r>
              <a:endParaRPr lang="zh-CN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623" y="2349818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100%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579" y="28451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90%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318" y="4445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时间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295400" y="2419350"/>
              <a:ext cx="1790700" cy="2114550"/>
            </a:xfrm>
            <a:custGeom>
              <a:avLst/>
              <a:gdLst/>
              <a:ahLst/>
              <a:cxnLst/>
              <a:rect l="l" t="t" r="r" b="b"/>
              <a:pathLst>
                <a:path w="1790700" h="2114550">
                  <a:moveTo>
                    <a:pt x="0" y="0"/>
                  </a:moveTo>
                  <a:cubicBezTo>
                    <a:pt x="457200" y="190500"/>
                    <a:pt x="838200" y="685800"/>
                    <a:pt x="1314450" y="1562100"/>
                  </a:cubicBezTo>
                  <a:cubicBezTo>
                    <a:pt x="1447800" y="1790700"/>
                    <a:pt x="1600200" y="1943100"/>
                    <a:pt x="1790700" y="2114550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95400" y="2419350"/>
              <a:ext cx="4819650" cy="514350"/>
            </a:xfrm>
            <a:custGeom>
              <a:avLst/>
              <a:gdLst/>
              <a:ahLst/>
              <a:cxnLst/>
              <a:rect l="l" t="t" r="r" b="b"/>
              <a:pathLst>
                <a:path w="4819650" h="514350">
                  <a:moveTo>
                    <a:pt x="0" y="0"/>
                  </a:moveTo>
                  <a:cubicBezTo>
                    <a:pt x="1009650" y="76200"/>
                    <a:pt x="2419350" y="190500"/>
                    <a:pt x="4819650" y="514350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038350" y="2933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00000" sp="300000"/>
              </a:custDash>
            </a:ln>
          </p:spPr>
        </p:sp>
        <p:sp>
          <p:nvSpPr>
            <p:cNvPr id="22" name="Line 22"/>
            <p:cNvSpPr/>
            <p:nvPr/>
          </p:nvSpPr>
          <p:spPr>
            <a:xfrm>
              <a:off x="6115050" y="2933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200000" sp="300000"/>
              </a:custDash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45742" y="3226118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S 较小</a:t>
              </a:r>
              <a:endParaRPr lang="zh-CN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45742" y="3473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遗忘更快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74592" y="2178368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S 较大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74592" y="2426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曲线更平缓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21942" y="478821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较短间隔 I₁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74742" y="478821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较长间隔 I₂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942" y="5093018"/>
              <a:ext cx="2377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R(t, S) = (1 + F × t / S)^d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781800" y="1581150"/>
            <a:ext cx="4648200" cy="3790950"/>
            <a:chOff x="6781800" y="1581150"/>
            <a:chExt cx="4648200" cy="3790950"/>
          </a:xfrm>
        </p:grpSpPr>
        <p:sp>
          <p:nvSpPr>
            <p:cNvPr id="31" name="Rectangle 31"/>
            <p:cNvSpPr/>
            <p:nvPr/>
          </p:nvSpPr>
          <p:spPr>
            <a:xfrm>
              <a:off x="6781800" y="1581150"/>
              <a:ext cx="4648200" cy="37909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7456" y="178689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一次评分如何改变下一条曲线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086600" y="2247900"/>
              <a:ext cx="40386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08342" y="2368868"/>
              <a:ext cx="1998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 先预测本次回忆概率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08342" y="2597468"/>
              <a:ext cx="2871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elapsed time t + 当前稳定性 S → R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9105900" y="28575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86600" y="3067050"/>
              <a:ext cx="4038600" cy="819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08342" y="3188018"/>
              <a:ext cx="2570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 用户反馈提供新的学习证据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15200" y="3486150"/>
              <a:ext cx="781050" cy="228600"/>
            </a:xfrm>
            <a:prstGeom prst="rect">
              <a:avLst/>
            </a:prstGeom>
            <a:solidFill>
              <a:srgbClr val="FFF4E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57637" y="3521392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Again</a:t>
              </a:r>
              <a:endParaRPr lang="en-US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29600" y="3486150"/>
              <a:ext cx="6858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52765" y="352139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Hard</a:t>
              </a:r>
              <a:endParaRPr lang="en-US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48750" y="3486150"/>
              <a:ext cx="685800" cy="22860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71915" y="352139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Good</a:t>
              </a:r>
              <a:endParaRPr lang="en-US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867900" y="3486150"/>
              <a:ext cx="762000" cy="228600"/>
            </a:xfrm>
            <a:prstGeom prst="rect">
              <a:avLst/>
            </a:prstGeom>
            <a:solidFill>
              <a:srgbClr val="DDF7F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029165" y="352139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Easy</a:t>
              </a:r>
              <a:endParaRPr lang="en-US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9105900" y="38862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86600" y="4095750"/>
              <a:ext cx="4038600" cy="971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08342" y="4235768"/>
              <a:ext cx="2189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更新该卡片的记忆状态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08342" y="4502468"/>
              <a:ext cx="342557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Again：lapses 增加，稳定性下降</a:t>
              </a:r>
              <a:b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Hard / Good / Easy：按不同幅度提升稳定性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5657850"/>
            <a:ext cx="10668000" cy="742950"/>
            <a:chOff x="762000" y="5657850"/>
            <a:chExt cx="10668000" cy="742950"/>
          </a:xfrm>
        </p:grpSpPr>
        <p:sp>
          <p:nvSpPr>
            <p:cNvPr id="52" name="Rectangle 52"/>
            <p:cNvSpPr/>
            <p:nvPr/>
          </p:nvSpPr>
          <p:spPr>
            <a:xfrm>
              <a:off x="762000" y="5657850"/>
              <a:ext cx="106680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57656" y="5787390"/>
              <a:ext cx="43599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调度结果：求 I，使 R(I, S') = 0.90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9942" y="6083618"/>
              <a:ext cx="7914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interval = I · due = now + I 天 · 当前实现：FSRS-6、21 个默认模型权重、每张卡独立演化状态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33400"/>
              <a:ext cx="9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25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998" y="597218"/>
            <a:ext cx="9695312" cy="821817"/>
            <a:chOff x="745998" y="597218"/>
            <a:chExt cx="9695312" cy="821817"/>
          </a:xfrm>
        </p:grpSpPr>
        <p:sp>
          <p:nvSpPr>
            <p:cNvPr id="7" name="TextBox 7"/>
            <p:cNvSpPr txBox="1"/>
            <p:nvPr/>
          </p:nvSpPr>
          <p:spPr>
            <a:xfrm>
              <a:off x="1021842" y="597218"/>
              <a:ext cx="38748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TECHNOLOGY / RELIABLE ASYNCHRONY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802958"/>
              <a:ext cx="96953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Outbox：练习提交快速返回，学习进度可靠入账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581150"/>
            <a:ext cx="10668000" cy="1543050"/>
            <a:chOff x="762000" y="1581150"/>
            <a:chExt cx="10668000" cy="15430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81150"/>
              <a:ext cx="10668000" cy="1543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7656" y="172974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同步热路径：只完成核心结果与事件持久化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66800" y="2190750"/>
              <a:ext cx="1962150" cy="6286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9369" y="2311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词汇评分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4938" y="2540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或语法练习提交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3028950" y="25050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352800" y="2114550"/>
              <a:ext cx="4686300" cy="781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76752" y="2190433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同一数据库事务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6752" y="2453958"/>
              <a:ext cx="4428554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保存核心练习结果 + INSERT Outbox Event(PENDING)</a:t>
              </a:r>
              <a:b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唯一键：user_id、plan_date、practice_type、item_id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8039100" y="25050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62950" y="2190750"/>
              <a:ext cx="27622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30055" y="2263140"/>
              <a:ext cx="122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HTTP 返回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10269" y="2540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不等待日统计聚合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3371850"/>
            <a:ext cx="10668000" cy="1828800"/>
            <a:chOff x="762000" y="3371850"/>
            <a:chExt cx="10668000" cy="1828800"/>
          </a:xfrm>
        </p:grpSpPr>
        <p:sp>
          <p:nvSpPr>
            <p:cNvPr id="24" name="Rectangle 24"/>
            <p:cNvSpPr/>
            <p:nvPr/>
          </p:nvSpPr>
          <p:spPr>
            <a:xfrm>
              <a:off x="762000" y="3371850"/>
              <a:ext cx="10668000" cy="18288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7656" y="35204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异步消费者：原子领取、幂等聚合、故障恢复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66800" y="3962400"/>
              <a:ext cx="184785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32611" y="4121468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Scheduler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8678" y="43691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200ms 扫描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75048" y="45977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单批最多 50 条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291465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38500" y="3962400"/>
              <a:ext cx="2686050" cy="876300"/>
            </a:xfrm>
            <a:prstGeom prst="rect">
              <a:avLst/>
            </a:prstGeom>
            <a:solidFill>
              <a:srgbClr val="E6FFFB"/>
            </a:solidFill>
            <a:ln w="95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48874" y="4121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原子领取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52800" y="4369118"/>
              <a:ext cx="245999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PENDING / 过期 PROCESSING</a:t>
              </a:r>
              <a:r>
                <a:rPr lang="zh-CN" sz="1350" dirty="0">
                  <a:solidFill>
                    <a:schemeClr val="dk1"/>
                  </a:solidFill>
                  <a:sym typeface="+mn-ea"/>
                </a:rPr>
                <a:t>→ 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72765" y="4598035"/>
              <a:ext cx="317563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PROCESSING + attempts++ + 30s 租约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592455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962400"/>
              <a:ext cx="31242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31170" y="41214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幂等进度聚合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41897" y="4369118"/>
              <a:ext cx="2337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练习日志 INSERT IF ABSENT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04088" y="45977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每日进度行原子计数增量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937260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696450" y="3962400"/>
              <a:ext cx="142875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64620" y="4197668"/>
              <a:ext cx="1092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COMPLETED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58756" y="4464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业务效果一次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467350"/>
            <a:ext cx="10668000" cy="666750"/>
            <a:chOff x="762000" y="5467350"/>
            <a:chExt cx="10668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762000" y="5467350"/>
              <a:ext cx="3352800" cy="66675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19556" y="55587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快</a:t>
              </a:r>
              <a:endParaRPr lang="zh-CN" sz="180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1842" y="585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提交不等待日志与计数写入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419600" y="5467350"/>
              <a:ext cx="33528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677156" y="55587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7944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事务内写事件，崩溃后仍可恢复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077200" y="5467350"/>
              <a:ext cx="3352800" cy="666750"/>
            </a:xfrm>
            <a:prstGeom prst="rect">
              <a:avLst/>
            </a:prstGeom>
            <a:solidFill>
              <a:srgbClr val="FFF4E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34756" y="55587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准</a:t>
              </a:r>
              <a:endParaRPr lang="zh-CN" sz="180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37042" y="5855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至少一次投递，效果等同一次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5142" y="6331268"/>
            <a:ext cx="8722654" cy="264033"/>
            <a:chOff x="755142" y="6331268"/>
            <a:chExt cx="8722654" cy="264033"/>
          </a:xfrm>
        </p:grpSpPr>
        <p:sp>
          <p:nvSpPr>
            <p:cNvPr id="55" name="TextBox 55"/>
            <p:cNvSpPr txBox="1"/>
            <p:nvPr/>
          </p:nvSpPr>
          <p:spPr>
            <a:xfrm>
              <a:off x="755142" y="6331268"/>
              <a:ext cx="8722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失败事件回到 PENDING，按 attempts 线性延迟 1–60 秒重试；FSRS 卡片评分的乐观锁仍是后续改进项。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33400"/>
              <a:ext cx="9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25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5998" y="597218"/>
            <a:ext cx="10739842" cy="1065466"/>
            <a:chOff x="745998" y="597218"/>
            <a:chExt cx="10739842" cy="1065466"/>
          </a:xfrm>
        </p:grpSpPr>
        <p:sp>
          <p:nvSpPr>
            <p:cNvPr id="7" name="TextBox 7"/>
            <p:cNvSpPr txBox="1"/>
            <p:nvPr/>
          </p:nvSpPr>
          <p:spPr>
            <a:xfrm>
              <a:off x="1021842" y="597218"/>
              <a:ext cx="3753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TECHNOLOGY / PROMPT ENGINEERING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802958"/>
              <a:ext cx="107398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场景化 Prompt Lab：把通用模型约束为可控口语教练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856" y="1310640"/>
              <a:ext cx="99532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不是把聊天记录直接发给模型，而是由统一契约、场景协议和受控上下文共同决定教学行为。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1847850"/>
            <a:ext cx="3010338" cy="3067050"/>
            <a:chOff x="762000" y="1847850"/>
            <a:chExt cx="3010338" cy="3067050"/>
          </a:xfrm>
        </p:grpSpPr>
        <p:sp>
          <p:nvSpPr>
            <p:cNvPr id="11" name="Rectangle 11"/>
            <p:cNvSpPr/>
            <p:nvPr/>
          </p:nvSpPr>
          <p:spPr>
            <a:xfrm>
              <a:off x="762000" y="1847850"/>
              <a:ext cx="2381250" cy="3067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2015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场景资产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0798" y="24031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</a:t>
              </a:r>
              <a:endParaRPr lang="en-US" sz="31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5356" y="25488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个独立协议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1066800" y="297180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8817" y="3069273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scenarios/*.json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917" y="338105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level · role · goal · target turns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8817" y="3680143"/>
              <a:ext cx="2122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prompts/*-system.md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4837" y="3981133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对话流程 · 偏题边界 · 表达帮助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66800" y="4438650"/>
              <a:ext cx="1771650" cy="24765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7412" y="4482783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示例：G-07 商务会议</a:t>
              </a:r>
              <a:endParaRPr lang="zh-CN" sz="1350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43250" y="1847850"/>
            <a:ext cx="5143500" cy="3067050"/>
            <a:chOff x="3143250" y="1847850"/>
            <a:chExt cx="5143500" cy="3067050"/>
          </a:xfrm>
        </p:grpSpPr>
        <p:sp>
          <p:nvSpPr>
            <p:cNvPr id="23" name="Line 23"/>
            <p:cNvSpPr/>
            <p:nvPr/>
          </p:nvSpPr>
          <p:spPr>
            <a:xfrm>
              <a:off x="3143250" y="33813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67100" y="1847850"/>
              <a:ext cx="4495800" cy="3067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2756" y="2015490"/>
              <a:ext cx="2172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Prompt Composer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65042" y="2330768"/>
              <a:ext cx="3059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后端按每轮请求拼装 System Prompt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71900" y="2686050"/>
              <a:ext cx="3886200" cy="514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55542" y="2768918"/>
              <a:ext cx="2054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公共 Agent Contract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55542" y="2978468"/>
              <a:ext cx="3594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JSON 输出、TTS 可播、安全与相关性边界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71900" y="3333750"/>
              <a:ext cx="3886200" cy="51435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55542" y="341661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② 场景协议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55542" y="36261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角色、推进顺序、完成条件、中文表达帮助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771900" y="3981450"/>
              <a:ext cx="3886200" cy="628650"/>
            </a:xfrm>
            <a:prstGeom prst="rect">
              <a:avLst/>
            </a:prstGeom>
            <a:solidFill>
              <a:srgbClr val="D7E4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55542" y="40833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运行时上下文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5542" y="4311968"/>
              <a:ext cx="3185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 · 当前轮次 · 输入语言 · 对话历史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7962900" y="33813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286750" y="1847850"/>
            <a:ext cx="3143250" cy="3067050"/>
            <a:chOff x="8286750" y="1847850"/>
            <a:chExt cx="3143250" cy="3067050"/>
          </a:xfrm>
        </p:grpSpPr>
        <p:sp>
          <p:nvSpPr>
            <p:cNvPr id="38" name="Rectangle 38"/>
            <p:cNvSpPr/>
            <p:nvPr/>
          </p:nvSpPr>
          <p:spPr>
            <a:xfrm>
              <a:off x="8286750" y="1847850"/>
              <a:ext cx="3143250" cy="3067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82406" y="20154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模型与输出控制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91550" y="2457450"/>
              <a:ext cx="253365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59020" y="2548890"/>
              <a:ext cx="1798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DeepSeek Chat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84692" y="3111818"/>
              <a:ext cx="156533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temperature = 0.7</a:t>
              </a:r>
              <a:b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 tokens = 120</a:t>
              </a:r>
              <a:b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timeout = 30s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8591550" y="3943350"/>
              <a:ext cx="2533650" cy="9525"/>
            </a:xfrm>
            <a:custGeom>
              <a:avLst/>
              <a:gdLst/>
              <a:ahLst/>
              <a:cxnLst/>
              <a:rect l="l" t="t" r="r" b="b"/>
              <a:pathLst>
                <a:path w="2533650" h="9525">
                  <a:moveTo>
                    <a:pt x="0" y="0"/>
                  </a:moveTo>
                  <a:lnTo>
                    <a:pt x="25336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84692" y="4083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输出契约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84692" y="4331018"/>
              <a:ext cx="20368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content → 对话保存 + TTS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instantTip → 页面短提示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5219700"/>
            <a:ext cx="10668000" cy="838200"/>
            <a:chOff x="762000" y="5219700"/>
            <a:chExt cx="10668000" cy="838200"/>
          </a:xfrm>
        </p:grpSpPr>
        <p:sp>
          <p:nvSpPr>
            <p:cNvPr id="47" name="Rectangle 47"/>
            <p:cNvSpPr/>
            <p:nvPr/>
          </p:nvSpPr>
          <p:spPr>
            <a:xfrm>
              <a:off x="762000" y="5219700"/>
              <a:ext cx="10668000" cy="838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7656" y="53492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上下文预算与故障降级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709670" y="5299710"/>
              <a:ext cx="2038350" cy="45720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892310" y="5436553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最近 8 条原始消息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935345" y="5302885"/>
              <a:ext cx="24003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63508" y="543591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更早历史压缩至 600 字符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496300" y="5299710"/>
              <a:ext cx="2628900" cy="457200"/>
            </a:xfrm>
            <a:prstGeom prst="rect">
              <a:avLst/>
            </a:prstGeom>
            <a:solidFill>
              <a:srgbClr val="FFF4E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59823" y="5434648"/>
              <a:ext cx="2301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异常或无 Key → Mock 回退</a:t>
              </a:r>
              <a:endParaRPr lang="zh-CN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9942" y="5759768"/>
              <a:ext cx="8819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更早历史被标记为“不可信历史”，不作为系统指令；Prompt Lab 与生产端复用同一构造逻辑进行离线检查。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755142" y="6350318"/>
            <a:ext cx="51117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766E"/>
                </a:solidFill>
                <a:latin typeface="+mn-lt"/>
                <a:ea typeface="+mn-ea"/>
                <a:cs typeface="+mn-cs"/>
              </a:rPr>
              <a:t>技术亮点：把 Prompt 作为可版本化、可测试、可预算的工程资产。</a:t>
            </a:r>
            <a:endParaRPr lang="zh-CN" sz="1350" dirty="0">
              <a:solidFill>
                <a:srgbClr val="0F766E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口语提交链路将同步体验与异步能力分离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62000" y="1186815"/>
            <a:ext cx="11619135" cy="4373880"/>
            <a:chOff x="762000" y="1186815"/>
            <a:chExt cx="11619135" cy="4373880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868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完整调用链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023" y="1576864"/>
              <a:ext cx="114351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MediaRecorder录音 → multipart上传 → FFmpeg转16kHz PCM → 讯飞ASR轮询 → 保存USER消息 → DeepSeek LLM生成 → 保存AGENT消息 → 返回HTTP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0955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71700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同步主链路（用户必须等）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5261" y="2560796"/>
              <a:ext cx="47180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上传 + 转码 + ASR + LLM 生成 → 返回 Agent 文字回复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048000"/>
              <a:ext cx="10668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124200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异步后台链路（用户不用等）</a:t>
              </a:r>
              <a:endParaRPr lang="zh-CN" sz="150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3513296"/>
              <a:ext cx="25998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 语音合成 · ISE 发音评分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095750"/>
              <a:ext cx="10668000" cy="762000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118" y="4203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设计约束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4540568"/>
              <a:ext cx="7867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LLM依赖ASR转写文本 → ASR→LLM不可并行。但TTS和ISE都不影响文字回复 → 可以放在后台。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5267325"/>
              <a:ext cx="6164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用户最关心下一句文字回复，发音评分和语音合成可以后台完成。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63868"/>
            <a:ext cx="7156094" cy="1160716"/>
            <a:chOff x="745998" y="463868"/>
            <a:chExt cx="7156094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63868"/>
              <a:ext cx="3552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ENGINEERING DECISION / PERFORMANCE</a:t>
              </a:r>
              <a:endParaRPr lang="en-US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83908"/>
              <a:ext cx="7156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口语性能优化：用户只等待关键路径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7254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关键不是让所有操作都变快，而是将不可避免的等待留在前台。</a:t>
              </a:r>
              <a:endParaRPr lang="zh-CN" sz="180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866900"/>
            <a:ext cx="10668000" cy="704850"/>
            <a:chOff x="762000" y="1866900"/>
            <a:chExt cx="10668000" cy="704850"/>
          </a:xfrm>
        </p:grpSpPr>
        <p:sp>
          <p:nvSpPr>
            <p:cNvPr id="9" name="Rectangle 9"/>
            <p:cNvSpPr/>
            <p:nvPr/>
          </p:nvSpPr>
          <p:spPr>
            <a:xfrm>
              <a:off x="762000" y="1866900"/>
              <a:ext cx="10668000" cy="70485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4608" y="2045970"/>
              <a:ext cx="57415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用户等待：上传 → 转码 → ASR → LLM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35696" y="21107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其余能力全部转入后台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9737" y="2914650"/>
            <a:ext cx="10740263" cy="2324100"/>
            <a:chOff x="689737" y="2914650"/>
            <a:chExt cx="10740263" cy="2324100"/>
          </a:xfrm>
        </p:grpSpPr>
        <p:sp>
          <p:nvSpPr>
            <p:cNvPr id="13" name="Rectangle 13"/>
            <p:cNvSpPr/>
            <p:nvPr/>
          </p:nvSpPr>
          <p:spPr>
            <a:xfrm>
              <a:off x="7620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37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01 / 会话进入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14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同步开场白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9906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4083368"/>
              <a:ext cx="168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LLM 在创建 session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4350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的同步路径中等待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9737" y="4844098"/>
              <a:ext cx="2274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预配置 openingMessage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337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54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02 / 结果返回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531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全链路串行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31623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55442" y="4083368"/>
              <a:ext cx="1444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ASR / LLM / TTS</a:t>
              </a:r>
              <a:endParaRPr lang="en-US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55442" y="43500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/ ISE 全部相互等待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5442" y="4845368"/>
              <a:ext cx="1697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TTS / ISE 异步化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1054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271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03 / 对话轮次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248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上下文膨胀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53340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27142" y="4083368"/>
              <a:ext cx="1732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多轮后 Token 增长，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27142" y="4350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回复越来越慢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53127" y="4845368"/>
              <a:ext cx="2532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8 条 / 600 字 / 120 tokens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771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988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04 / 音频处理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5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轮询与格式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75057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98842" y="408336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固定 1.2s 轮询；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8842" y="4350068"/>
              <a:ext cx="1535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WebM 不等于 PCM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6602" y="4845368"/>
              <a:ext cx="1860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立即查询 + FFmpeg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448800" y="2914650"/>
              <a:ext cx="1981200" cy="232410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670542" y="3130868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RESULT</a:t>
              </a:r>
              <a:endParaRPr lang="en-US" sz="13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65208" y="34937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体验稳定</a:t>
              </a:r>
              <a:endParaRPr lang="zh-CN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70542" y="4007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文字回复不被</a:t>
              </a:r>
              <a:endParaRPr lang="zh-CN" sz="135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70542" y="4273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语音和评分阻塞</a:t>
              </a:r>
              <a:endParaRPr lang="zh-CN" sz="135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70542" y="47882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快的路径更快</a:t>
              </a:r>
              <a:endParaRPr lang="zh-CN" sz="13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55142" y="6140768"/>
            <a:ext cx="67500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rPr>
              <a:t>Performance insight: 把速度优化从“服务耗时”转为“用户感知等待”的管理问题。</a:t>
            </a:r>
            <a:endParaRPr lang="zh-CN" sz="1350" dirty="0">
              <a:solidFill>
                <a:srgbClr val="A8BAC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93706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系统通过JWT和角色权限保护用户与管理接口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62000" y="1238250"/>
            <a:ext cx="10668000" cy="4876800"/>
            <a:chOff x="762000" y="1238250"/>
            <a:chExt cx="10668000" cy="4876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143500" cy="2286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7844" y="14087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安全架构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368" y="1869758"/>
              <a:ext cx="4159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用户认证：注册/登录/获取当前用户/登出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9368" y="2250758"/>
              <a:ext cx="32385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Token机制：JWT Bearer Token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368" y="2631758"/>
              <a:ext cx="3508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前端统一注入Authorization请求头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368" y="3012758"/>
              <a:ext cx="3039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后端Spring Security统一鉴权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2286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62344" y="14087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权限模型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3868" y="191738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 — 普通用户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3868" y="2346008"/>
              <a:ext cx="16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ADMIN — 管理员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3868" y="2869882"/>
              <a:ext cx="3160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/api/admin/** 仅ADMIN可访问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905250"/>
              <a:ext cx="10668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9368" y="406050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统一错误响应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4378642"/>
              <a:ext cx="7886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400 Bad Request · 401 Unauthorized · 403 Forbidden · 409 Conflict · 501 Not Implemented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048250"/>
              <a:ext cx="106680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8606" y="5187315"/>
              <a:ext cx="2524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安全性测试 9 / 9 通过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3905250" y="5238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524750" y="5238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84142" y="53311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访问控制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84142" y="56359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未登录、角色与跨账号数据隔离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3642" y="53311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输入与上传防护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3642" y="5635942"/>
              <a:ext cx="3276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无效Token、注入、文件类型与密钥检查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6F8F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44818"/>
            <a:ext cx="9160459" cy="1141666"/>
            <a:chOff x="745998" y="444818"/>
            <a:chExt cx="9160459" cy="114166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44818"/>
              <a:ext cx="3169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TEST EVIDENCE / K6 PERFORMANCE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26758"/>
              <a:ext cx="84695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100 并发下，词汇与语法练习链路稳定通过</a:t>
              </a:r>
              <a:endParaRPr lang="zh-CN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34440"/>
              <a:ext cx="91536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真实测试数据来自 k6 完整迭代：每个并发用户均执行登录、练习、评分与进度写入。</a:t>
              </a:r>
              <a:endParaRPr lang="zh-CN" sz="18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866900"/>
            <a:ext cx="10668000" cy="1133285"/>
            <a:chOff x="762000" y="1866900"/>
            <a:chExt cx="10668000" cy="1133285"/>
          </a:xfrm>
        </p:grpSpPr>
        <p:sp>
          <p:nvSpPr>
            <p:cNvPr id="9" name="Rectangle 9"/>
            <p:cNvSpPr/>
            <p:nvPr/>
          </p:nvSpPr>
          <p:spPr>
            <a:xfrm>
              <a:off x="762000" y="1866900"/>
              <a:ext cx="3333750" cy="10668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0892" y="2121218"/>
              <a:ext cx="1525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HTTP 请求失败率</a:t>
              </a:r>
              <a:endParaRPr lang="zh-CN" sz="1350" b="1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1748" y="2384108"/>
              <a:ext cx="1345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0.00%</a:t>
              </a:r>
              <a:endParaRPr lang="en-US" sz="31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238625" y="1866900"/>
              <a:ext cx="3333750" cy="10668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7517" y="21212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业务检查通过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8373" y="2384108"/>
              <a:ext cx="29929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2,200 / 2,200</a:t>
              </a:r>
              <a:endParaRPr lang="en-US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715250" y="1866900"/>
              <a:ext cx="3714750" cy="10668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94142" y="2121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压测范围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88808" y="2465070"/>
              <a:ext cx="343377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 并发 · 200 次迭代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3333750"/>
            <a:ext cx="10668000" cy="2076450"/>
            <a:chOff x="762000" y="3333750"/>
            <a:chExt cx="10668000" cy="2076450"/>
          </a:xfrm>
        </p:grpSpPr>
        <p:sp>
          <p:nvSpPr>
            <p:cNvPr id="19" name="Rectangle 19"/>
            <p:cNvSpPr/>
            <p:nvPr/>
          </p:nvSpPr>
          <p:spPr>
            <a:xfrm>
              <a:off x="762000" y="3333750"/>
              <a:ext cx="5143500" cy="2076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2000" y="3333750"/>
              <a:ext cx="5143500" cy="1143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8606" y="3653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词汇练习压测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4026218"/>
              <a:ext cx="4171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次完整迭代 · 500 HTTP 请求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1047750" y="44005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5558" y="45034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1.83s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64842" y="461676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平均 HTTP 响应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016818"/>
              <a:ext cx="387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完整链路平均 9.19s · 1,000 项业务检查全通过</a:t>
              </a:r>
              <a:endPara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86500" y="3333750"/>
              <a:ext cx="5143500" cy="2076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3333750"/>
              <a:ext cx="5143500" cy="11430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3106" y="3653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语法练习压测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5392" y="4026218"/>
              <a:ext cx="4171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次完整迭代 · 600 HTTP 请求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6572250" y="44005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0058" y="45034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1.40s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9342" y="461676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平均 HTTP 响应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5392" y="5016818"/>
              <a:ext cx="387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完整链路平均 8.81s · 1,200 项业务检查全通过</a:t>
              </a:r>
              <a:endParaRPr lang="zh-CN" sz="1350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5142" y="5969318"/>
            <a:ext cx="10536111" cy="264033"/>
            <a:chOff x="755142" y="5969318"/>
            <a:chExt cx="10536111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755142" y="5969318"/>
              <a:ext cx="10536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数据来源：performance-test-results.md / k6 性能测试结果。口语链路因外部 API 限制采用单用户稳定性验证，详见下一页。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25768"/>
            <a:ext cx="7156094" cy="1141666"/>
            <a:chOff x="745998" y="425768"/>
            <a:chExt cx="7156094" cy="114166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25768"/>
              <a:ext cx="3985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PERFORMANCE PROFILE / AVERAGE LATENCY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07708"/>
              <a:ext cx="7156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每个测试接口都有可解释的平均耗时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1539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单位：秒。以平均耗时说明一次典型调用的用户等待时间。</a:t>
              </a:r>
              <a:endParaRPr lang="zh-CN" sz="180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1809750"/>
            <a:ext cx="3333750" cy="4038600"/>
            <a:chOff x="762000" y="1809750"/>
            <a:chExt cx="3333750" cy="403860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3333750" cy="403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809750"/>
              <a:ext cx="33337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0506" y="2072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词汇练习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792" y="240696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次迭代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1009650" y="2743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2792" y="2921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1226" y="29213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1.70s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2792" y="3245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获取练习单词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1226" y="32451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2.04s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27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提交评分 / 答题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1226" y="35690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2.58s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2792" y="3892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完成进度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1226" y="38928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2.23s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2792" y="421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完成学习记忆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1226" y="42167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0.62s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2792" y="4540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完成练习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1226" y="45405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2.84s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1009650" y="49149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2792" y="5188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完整链路平均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07741" y="50749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9.19s</a:t>
              </a:r>
              <a:endPara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429125" y="1809750"/>
            <a:ext cx="3333750" cy="4038600"/>
            <a:chOff x="4429125" y="1809750"/>
            <a:chExt cx="3333750" cy="4038600"/>
          </a:xfrm>
        </p:grpSpPr>
        <p:sp>
          <p:nvSpPr>
            <p:cNvPr id="30" name="Rectangle 30"/>
            <p:cNvSpPr/>
            <p:nvPr/>
          </p:nvSpPr>
          <p:spPr>
            <a:xfrm>
              <a:off x="4429125" y="1809750"/>
              <a:ext cx="3333750" cy="403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429125" y="1809750"/>
              <a:ext cx="33337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67631" y="2072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语法练习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69917" y="240696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次迭代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4676775" y="2743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69917" y="2921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8351" y="29213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1.29s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69917" y="3245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获取语法题目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8351" y="32451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1.40s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69917" y="35690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提交语法结果 / 答题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88351" y="35690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69917" y="3892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提交语法评分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8351" y="38928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69917" y="421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完成语法进度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88351" y="42167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0.91s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69917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获取语法概览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88351" y="45405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0.31s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4676775" y="49149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669917" y="5188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完整链路平均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4866" y="50749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8.81s</a:t>
              </a:r>
              <a:endPara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096250" y="1809750"/>
            <a:ext cx="3333750" cy="4038600"/>
            <a:chOff x="8096250" y="1809750"/>
            <a:chExt cx="3333750" cy="4038600"/>
          </a:xfrm>
        </p:grpSpPr>
        <p:sp>
          <p:nvSpPr>
            <p:cNvPr id="51" name="Rectangle 51"/>
            <p:cNvSpPr/>
            <p:nvPr/>
          </p:nvSpPr>
          <p:spPr>
            <a:xfrm>
              <a:off x="8096250" y="1809750"/>
              <a:ext cx="3333750" cy="4038600"/>
            </a:xfrm>
            <a:prstGeom prst="rect">
              <a:avLst/>
            </a:prstGeom>
            <a:solidFill>
              <a:srgbClr val="2348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96250" y="1809750"/>
              <a:ext cx="33337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34756" y="2072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口语练习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24069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外部服务验证 · 1 用户 · 4 次迭代</a:t>
              </a:r>
              <a:endPara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8343900" y="2743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rgbClr val="4D6B8D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37042" y="3016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口语上传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78269" y="296799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2.53s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37042" y="35309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完整口语练习链路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78269" y="348234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2.71s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37042" y="404526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平均 HTTP 响应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78269" y="399669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0.90s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Line 62"/>
            <p:cNvSpPr/>
            <p:nvPr/>
          </p:nvSpPr>
          <p:spPr>
            <a:xfrm>
              <a:off x="8343900" y="44577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rgbClr val="4D6B8D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37042" y="4731068"/>
              <a:ext cx="1453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HTTP 请求失败率</a:t>
              </a:r>
              <a:endPara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27382" y="468249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0.00%</a:t>
              </a:r>
              <a:endParaRPr lang="en-US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37042" y="5112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上传失败率</a:t>
              </a:r>
              <a:endPara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27382" y="506349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0.00%</a:t>
              </a:r>
              <a:endParaRPr lang="en-US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55142" y="6216968"/>
            <a:ext cx="76557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数据来源：test.md。词汇与语法为并发压测结果；口语依赖外部服务，单独进行稳定性验证。</a:t>
            </a:r>
            <a:endParaRPr lang="zh-CN" sz="1350" dirty="0">
              <a:solidFill>
                <a:srgbClr val="CBD5E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团队采用模块拆分和接口契约驱动协作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1139190"/>
            <a:ext cx="10668000" cy="4646485"/>
            <a:chOff x="762000" y="1139190"/>
            <a:chExt cx="10668000" cy="4646485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39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协同流程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1584008"/>
              <a:ext cx="54809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需求拆分 → 契约定义 → 并行开发 → 联调测试 → 文档沉淀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3356" y="2282190"/>
              <a:ext cx="193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项目文档（8份）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0480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5642" y="3121342"/>
              <a:ext cx="719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README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5642" y="31213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项目总览与启动指南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352800"/>
              <a:ext cx="10668000" cy="285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5642" y="3426142"/>
              <a:ext cx="13066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API Contracts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5642" y="3426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前后端接口契约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6576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5642" y="3730942"/>
              <a:ext cx="1657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Frontend Handoff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5642" y="37309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前端架构与交付说明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962400"/>
              <a:ext cx="10668000" cy="285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5642" y="4035742"/>
              <a:ext cx="2625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Oral Backend / Agent Design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5642" y="4035742"/>
              <a:ext cx="2458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口语后端设计+Agent替换方案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2672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5642" y="4340542"/>
              <a:ext cx="1922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 Implementation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5642" y="4340542"/>
              <a:ext cx="15883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FSRS算法集成文档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572000"/>
              <a:ext cx="10668000" cy="285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5642" y="4645342"/>
              <a:ext cx="2736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Performance Optimization x2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5642" y="4645342"/>
              <a:ext cx="193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口语链路+词法并发优化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8768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5642" y="4950142"/>
              <a:ext cx="1294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 Deploy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5642" y="4950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服务器部署说明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09522" y="552164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团队靠接口契约和文档协作，不是靠口头沟通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98276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项目已完成主链路闭环，并预留真实服务替换空间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143000"/>
            <a:ext cx="10668000" cy="3238500"/>
            <a:chOff x="762000" y="1143000"/>
            <a:chExt cx="10668000" cy="3238500"/>
          </a:xfrm>
        </p:grpSpPr>
        <p:sp>
          <p:nvSpPr>
            <p:cNvPr id="9" name="Rectangle 9"/>
            <p:cNvSpPr/>
            <p:nvPr/>
          </p:nvSpPr>
          <p:spPr>
            <a:xfrm>
              <a:off x="762000" y="1143000"/>
              <a:ext cx="5238750" cy="3238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2594" y="1265872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已完成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880" y="17430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前后端基础框架+认证权限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2124075"/>
              <a:ext cx="380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5大页面：口语/词汇/语法/首页/个人中心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880" y="250507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口语session·录音上传·对话保存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2886075"/>
              <a:ext cx="3443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词汇/语法评分（FSRS+原子upsert）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880" y="3267075"/>
              <a:ext cx="2675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Outbox可靠性机制+学习计划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3664268"/>
              <a:ext cx="4017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自动化测试：后端25 + 前端23 + E2E 11 项通过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642" y="4045268"/>
              <a:ext cx="4711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非功能测试：42 / 42 通过（安全/可靠/兼容/易用/部署）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191250" y="1143000"/>
              <a:ext cx="5238750" cy="3238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1844" y="1265872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待完善（后续演进）</a:t>
              </a:r>
              <a:endParaRPr lang="zh-CN" sz="19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4130" y="1743075"/>
              <a:ext cx="3549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实时WebSocket ASR（替代文件轮询）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4130" y="21240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SSE流式回复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4130" y="2505075"/>
              <a:ext cx="2095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FSRS乐观锁+有限重试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4130" y="2886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对象存储替换本地文件系统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4130" y="32670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服务器压测报告+监控指标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4130" y="364807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排队模式(queued)生产验证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5273" y="40533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代码已预埋，默认关闭</a:t>
              </a:r>
              <a:endParaRPr lang="zh-CN" sz="128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6710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从具体困难中提炼出的工程方法论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62000" y="1095375"/>
            <a:ext cx="10668000" cy="4409504"/>
            <a:chOff x="762000" y="1095375"/>
            <a:chExt cx="10668000" cy="4409504"/>
          </a:xfrm>
        </p:grpSpPr>
        <p:sp>
          <p:nvSpPr>
            <p:cNvPr id="9" name="Rectangle 9"/>
            <p:cNvSpPr/>
            <p:nvPr/>
          </p:nvSpPr>
          <p:spPr>
            <a:xfrm>
              <a:off x="762000" y="1095375"/>
              <a:ext cx="5238750" cy="3524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2594" y="121824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方法论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1726882"/>
              <a:ext cx="22401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接口先行，Mock并行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023" y="2053114"/>
              <a:ext cx="3691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先定义接口→Mock供前端→后端接入→切换零改动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23460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该快的快，可慢的慢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023" y="267223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识别关键路径，非关键操作异步化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118" y="2965132"/>
              <a:ext cx="29831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原子写入+Outbox=并发可靠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32913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消除竞态窗口，租约兜底进程崩溃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118" y="358425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容量预埋，默认关闭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391048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设计阶段预留扩展路径，当前零额外开销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91250" y="1095375"/>
              <a:ext cx="5238750" cy="3524250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1844" y="121824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教训</a:t>
              </a:r>
              <a:endParaRPr lang="zh-CN" sz="19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3368" y="17268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越早用真实服务联调越好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5273" y="2053114"/>
              <a:ext cx="2520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第三方音频格式/延迟比预期复杂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3368" y="2346008"/>
              <a:ext cx="201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自由对话≠标准评测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5273" y="267223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不能混用同一套评估逻辑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3368" y="2965132"/>
              <a:ext cx="23191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LLM必须有Token预算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5273" y="3291364"/>
              <a:ext cx="26924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不限制上下文→响应和稳定性受影响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3368" y="3584258"/>
              <a:ext cx="2477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存储方案区分开发/生产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5273" y="3910489"/>
              <a:ext cx="148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本地文件→对象存储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07855" y="512349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工程化比功能堆叠更重要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4445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1032686" cy="616077"/>
            <a:chOff x="762000" y="326708"/>
            <a:chExt cx="11032686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107819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团队成员围绕产品、前端、后端、AI与测试协同推进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143000"/>
            <a:ext cx="10668000" cy="4857750"/>
            <a:chOff x="762000" y="1143000"/>
            <a:chExt cx="10668000" cy="4857750"/>
          </a:xfrm>
        </p:grpSpPr>
        <p:sp>
          <p:nvSpPr>
            <p:cNvPr id="9" name="Rectangle 9"/>
            <p:cNvSpPr/>
            <p:nvPr/>
          </p:nvSpPr>
          <p:spPr>
            <a:xfrm>
              <a:off x="762000" y="1143000"/>
              <a:ext cx="10668000" cy="809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4618" y="1460182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A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40380" y="1476375"/>
              <a:ext cx="4387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项目总体设计·需求梳理·汇报材料·接口契约协调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952625"/>
              <a:ext cx="10668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4618" y="2269808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B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40380" y="2286000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前端框架·页面路由·组件开发·mock/http服务切换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762250"/>
              <a:ext cx="10668000" cy="809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4618" y="3079432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C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380" y="3095625"/>
              <a:ext cx="3915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后端认证·用户权限·Spring Security·JWT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571875"/>
              <a:ext cx="10668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4618" y="3889058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D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0380" y="3905250"/>
              <a:ext cx="49960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口语模块后端·session·录音·Agent接口抽象·性能优化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4381500"/>
              <a:ext cx="10668000" cy="809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4618" y="4698682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E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40380" y="4714875"/>
              <a:ext cx="4863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词汇语法模块·FSRS复习逻辑·Outbox机制·并发优化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5191125"/>
              <a:ext cx="10668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34618" y="5508308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成员 F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40380" y="5524500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测试·性能优化·部署文档·联调与质量保证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4449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English Learning Copilot 已具备核心雏形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55142" y="1276668"/>
            <a:ext cx="10674858" cy="1403032"/>
            <a:chOff x="755142" y="1263968"/>
            <a:chExt cx="10674858" cy="1403032"/>
          </a:xfrm>
        </p:grpSpPr>
        <p:sp>
          <p:nvSpPr>
            <p:cNvPr id="9" name="TextBox 9"/>
            <p:cNvSpPr txBox="1"/>
            <p:nvPr/>
          </p:nvSpPr>
          <p:spPr>
            <a:xfrm>
              <a:off x="755142" y="1263968"/>
              <a:ext cx="287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一个学习系统，而不仅是功能集合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676400"/>
              <a:ext cx="2019300" cy="99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145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8647" y="2188528"/>
              <a:ext cx="158813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 · 词汇 · 语法 · 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个人中心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914650" y="1676400"/>
              <a:ext cx="2019300" cy="990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3410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接口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5107" y="2194242"/>
              <a:ext cx="160210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Mock / HTTP / Mixed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 三模式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67300" y="1676400"/>
              <a:ext cx="2019300" cy="99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86756" y="1891665"/>
              <a:ext cx="246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47767" y="2194242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ASR · ISE · TTS · LLM</a:t>
              </a:r>
              <a:endPara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19950" y="1676400"/>
              <a:ext cx="2019300" cy="990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3940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可靠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98182" y="2243772"/>
              <a:ext cx="2178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Outbox · 原子写入 · 去重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372600" y="1676400"/>
              <a:ext cx="2057400" cy="99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9205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95282" y="2250757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 + 23 + 11 测试证据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2856" y="3253740"/>
            <a:ext cx="10105644" cy="1417511"/>
            <a:chOff x="752856" y="3253740"/>
            <a:chExt cx="10105644" cy="1417511"/>
          </a:xfrm>
        </p:grpSpPr>
        <p:sp>
          <p:nvSpPr>
            <p:cNvPr id="26" name="TextBox 26"/>
            <p:cNvSpPr txBox="1"/>
            <p:nvPr/>
          </p:nvSpPr>
          <p:spPr>
            <a:xfrm>
              <a:off x="752856" y="32537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下一阶段路线图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1333500" y="4095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657350" y="39433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419600" y="39433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181850" y="39433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944100" y="394335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4867" y="4407218"/>
              <a:ext cx="1849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 WebSocket ASR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8560" y="4407218"/>
              <a:ext cx="1646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SSE 流式回复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2923" y="4407218"/>
              <a:ext cx="11226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 乐观锁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12582" y="44072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压测与监控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5334000"/>
            <a:ext cx="10668000" cy="800100"/>
            <a:chOff x="762000" y="5334000"/>
            <a:chExt cx="10668000" cy="800100"/>
          </a:xfrm>
        </p:grpSpPr>
        <p:sp>
          <p:nvSpPr>
            <p:cNvPr id="37" name="Rectangle 37"/>
            <p:cNvSpPr/>
            <p:nvPr/>
          </p:nvSpPr>
          <p:spPr>
            <a:xfrm>
              <a:off x="762000" y="5334000"/>
              <a:ext cx="106680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3856" y="548259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从功能原型，到可持续演进的智能学习系统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27694" y="5646420"/>
              <a:ext cx="2533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感谢聆听 · Q&amp;A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3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4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5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6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7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8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9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0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1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2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3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4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5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6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7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8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9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0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1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2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3.xml><?xml version="1.0" encoding="utf-8"?>
<p:tagLst xmlns:p="http://schemas.openxmlformats.org/presentationml/2006/main">
  <p:tag name="KSO_WM_DIAGRAM_VIRTUALLY_FRAME" val="{&quot;height&quot;:402,&quot;left&quot;:60,&quot;top&quot;:86.25,&quot;width&quot;:840}"/>
</p:tagLst>
</file>

<file path=ppt/tags/tag24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5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6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7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8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9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0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1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2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3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4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5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6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7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8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9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0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1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2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3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4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5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6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7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8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9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0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1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2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3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4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5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6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7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8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9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0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1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2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3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4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5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6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7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8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9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0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1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2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heme/theme1.xml><?xml version="1.0" encoding="utf-8"?>
<a:theme xmlns:a="http://schemas.openxmlformats.org/drawingml/2006/main" name="english-learning-copilot-review">
  <a:themeElements>
    <a:clrScheme name="english-learning-copilot-review">
      <a:dk1>
        <a:srgbClr val="334155"/>
      </a:dk1>
      <a:lt1>
        <a:srgbClr val="FFFFFF"/>
      </a:lt1>
      <a:dk2>
        <a:srgbClr val="1F497D"/>
      </a:dk2>
      <a:lt2>
        <a:srgbClr val="F5F7FA"/>
      </a:lt2>
      <a:accent1>
        <a:srgbClr val="1A365D"/>
      </a:accent1>
      <a:accent2>
        <a:srgbClr val="0EA5A0"/>
      </a:accent2>
      <a:accent3>
        <a:srgbClr val="F59E0B"/>
      </a:accent3>
      <a:accent4>
        <a:srgbClr val="1A365D"/>
      </a:accent4>
      <a:accent5>
        <a:srgbClr val="E2E8F0"/>
      </a:accent5>
      <a:accent6>
        <a:srgbClr val="F79646"/>
      </a:accent6>
      <a:hlink>
        <a:srgbClr val="0EA5A0"/>
      </a:hlink>
      <a:folHlink>
        <a:srgbClr val="F59E0B"/>
      </a:folHlink>
    </a:clrScheme>
    <a:fontScheme name="english-learning-copilot-review">
      <a:majorFont>
        <a:latin typeface="Microsoft YaHei Bold"/>
        <a:ea typeface="Microsoft YaHei"/>
        <a:cs typeface="Microsoft YaHei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lish-learning-copilot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glish-learning-copilot-review">
  <a:themeElements>
    <a:clrScheme name="english-learning-copilot-review">
      <a:dk1>
        <a:srgbClr val="334155"/>
      </a:dk1>
      <a:lt1>
        <a:srgbClr val="FFFFFF"/>
      </a:lt1>
      <a:dk2>
        <a:srgbClr val="1F497D"/>
      </a:dk2>
      <a:lt2>
        <a:srgbClr val="F5F7FA"/>
      </a:lt2>
      <a:accent1>
        <a:srgbClr val="1A365D"/>
      </a:accent1>
      <a:accent2>
        <a:srgbClr val="0EA5A0"/>
      </a:accent2>
      <a:accent3>
        <a:srgbClr val="F59E0B"/>
      </a:accent3>
      <a:accent4>
        <a:srgbClr val="1A365D"/>
      </a:accent4>
      <a:accent5>
        <a:srgbClr val="E2E8F0"/>
      </a:accent5>
      <a:accent6>
        <a:srgbClr val="F79646"/>
      </a:accent6>
      <a:hlink>
        <a:srgbClr val="0EA5A0"/>
      </a:hlink>
      <a:folHlink>
        <a:srgbClr val="F59E0B"/>
      </a:folHlink>
    </a:clrScheme>
    <a:fontScheme name="english-learning-copilot-review">
      <a:majorFont>
        <a:latin typeface="Microsoft YaHei Bold"/>
        <a:ea typeface="Microsoft YaHei"/>
        <a:cs typeface="Microsoft YaHei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lish-learning-copilot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7292</Words>
  <Application>WPS 演示</Application>
  <PresentationFormat>On-screen Show (16:9)</PresentationFormat>
  <Paragraphs>989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Arial</vt:lpstr>
      <vt:lpstr>Segoe UI</vt:lpstr>
      <vt:lpstr>微软雅黑</vt:lpstr>
      <vt:lpstr>Arial Unicode MS</vt:lpstr>
      <vt:lpstr>Calibri</vt:lpstr>
      <vt:lpstr>english-learning-copilot-review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孙睿阳</cp:lastModifiedBy>
  <cp:revision>6</cp:revision>
  <dcterms:created xsi:type="dcterms:W3CDTF">2026-07-30T03:58:00Z</dcterms:created>
  <dcterms:modified xsi:type="dcterms:W3CDTF">2026-07-30T08:30:19Z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95DB457922A749CF9DB892244B20EDE7_12</vt:lpwstr>
  </property>
  <property fmtid="{D5CDD505-2E9C-101B-9397-08002B2CF9AE}" pid="3" name="KSOProductBuildVer">
    <vt:lpwstr>2052-12.1.0.23542</vt:lpwstr>
  </property>
</Properties>
</file>